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</c:v>
                </c:pt>
              </c:strCache>
            </c:strRef>
          </c:tx>
          <c:spPr>
            <a:solidFill>
              <a:srgbClr val="F2A93B"/>
            </a:solidFill>
            <a:ln w="381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5616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0.998</c:v>
                </c:pt>
                <c:pt idx="1">
                  <c:v>0.9986</c:v>
                </c:pt>
                <c:pt idx="2">
                  <c:v>0.9991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55616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1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97"/>
        </c:scaling>
        <c:delete val="0"/>
        <c:axPos val="l"/>
        <c:majorGridlines>
          <c:spPr>
            <a:ln w="12700" cap="flat">
              <a:solidFill>
                <a:srgbClr val="EDF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team and the one-line premise: we built a working detector plus an interface that communicates uncertainty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why this is an above-average-difficulty challenge: generalisation, not memorisation.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deliverables. Emphasise that the core task is complete and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every image follows the same fixed path, which keeps results comparable. Mention the tech stack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the numbers honestly: these are validation-set numbers on CIFAKE, not on an unseen-generator split. Say so explicitly — the next slide covers what this does not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earns credibility. Do not skip it. State plainly that the headline AUC is in-distribution only, and that the domain gap is a real, unsolved limitation we identified through our own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roadmap as informed by our own failure analysis — the domain gap is the priority, not more bonus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framing. Invite questions, especially about the limitation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371600"/>
            <a:ext cx="3566160" cy="35661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19288" y="1572768"/>
            <a:ext cx="502920" cy="3200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9288" y="1572768"/>
            <a:ext cx="32004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0192" y="1572768"/>
            <a:ext cx="502920" cy="3200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1108" y="1572768"/>
            <a:ext cx="32004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9288" y="4704588"/>
            <a:ext cx="502920" cy="3200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9288" y="4233672"/>
            <a:ext cx="32004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0192" y="4704588"/>
            <a:ext cx="502920" cy="3200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1108" y="4233672"/>
            <a:ext cx="32004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2286000"/>
            <a:ext cx="1188720" cy="1188720"/>
          </a:xfrm>
          <a:prstGeom prst="ellipse">
            <a:avLst/>
          </a:prstGeom>
          <a:solidFill>
            <a:srgbClr val="F2A93B">
              <a:alpha val="2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3154680"/>
            <a:ext cx="777240" cy="777240"/>
          </a:xfrm>
          <a:prstGeom prst="ellipse">
            <a:avLst/>
          </a:prstGeom>
          <a:solidFill>
            <a:srgbClr val="D9705C">
              <a:alpha val="24000"/>
            </a:srgbClr>
          </a:solidFill>
          <a:ln w="12700">
            <a:solidFill>
              <a:srgbClr val="D970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19288" y="406908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 AI-generated · 0.88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371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76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SIH 2026 · INTERNAL HACKATHON · PROBLEM STATEMENT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7830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SignalScope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788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real from synthetic in the age of generative media.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image classifier with a live web interface — every verdict presented as a likelihood, never an accusation.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6492240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892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J. Institute of Engineering and Technology  ·  C-433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images are cheap. Trust is not.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 to fake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models produce photorealistic images in seconds, at zero marginal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240280"/>
            <a:ext cx="502920" cy="50292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harm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37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misinformation, fraud, fake product listings, and manipulated "evidence".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40280"/>
            <a:ext cx="502920" cy="50292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 break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337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that aces one generator often fails on a newer, unseen one — the case that matters.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7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not spotting a fake you have seen before — it is spotting one from a generator that did not exist last month.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detector, end to 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56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classifier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8562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transfer learning. Outputs a real / AI-generated label plus a confidence score for any uploaded image.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515600" cy="0"/>
          </a:xfrm>
          <a:prstGeom prst="line">
            <a:avLst/>
          </a:prstGeom>
          <a:noFill/>
          <a:ln w="12700">
            <a:solidFill>
              <a:srgbClr val="E2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07208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web interface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7889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upload, Flask backend, verdict rendered in under a second — the full path from image to answer.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0515600" cy="0"/>
          </a:xfrm>
          <a:prstGeom prst="line">
            <a:avLst/>
          </a:prstGeom>
          <a:noFill/>
          <a:ln w="12700">
            <a:solidFill>
              <a:srgbClr val="E2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39896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721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presentation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72160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read "likely AI-generated", never "certain". Confidence is shown, not hidden behind a binary label.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10515600" cy="0"/>
          </a:xfrm>
          <a:prstGeom prst="line">
            <a:avLst/>
          </a:prstGeom>
          <a:noFill/>
          <a:ln w="12700">
            <a:solidFill>
              <a:srgbClr val="E2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672584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654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65429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validation split never seen during training, with AUC, macro-F1, and a confusion matrix reported.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single scan runs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664208" cy="19659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6974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2004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uploaded via the browser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04288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2148840"/>
            <a:ext cx="1664208" cy="19659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15184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15184" y="26974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32004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normalise, tensor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1104" y="2148840"/>
            <a:ext cx="1664208" cy="19659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25696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6974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32004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backbone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25312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71616" y="2148840"/>
            <a:ext cx="1664208" cy="19659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6208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36208" y="26974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32004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probability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35824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82128" y="2148840"/>
            <a:ext cx="1664208" cy="19659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6974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2004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confidence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546336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92640" y="2148840"/>
            <a:ext cx="1664208" cy="19659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57232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857232" y="26974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UI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57232" y="32004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"Likely", never "certain"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617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HTML / CSS / JavaScript frontend  ·  Flask (Python) backend  ·  PyTorch + torchvision model  ·  trained on Google Colab (T4 GPU)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a held-out validation split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A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A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90,000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images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10515600" cy="0"/>
          </a:xfrm>
          <a:prstGeom prst="line">
            <a:avLst/>
          </a:prstGeom>
          <a:noFill/>
          <a:ln w="12700">
            <a:solidFill>
              <a:srgbClr val="E2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progression</a:t>
            </a:r>
            <a:endParaRPr lang="en-US" sz="16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3840480"/>
          <a:ext cx="49377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1264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(validation)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886200"/>
          <a:ext cx="493776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56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56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56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FA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6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56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6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FA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12648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counts at a 0.5 operating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HONEST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numbers do not prove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306324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A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works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separation on CIFAKE-style images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three training epochs, no overfitting collapse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live single-image inference in the browser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5074920" cy="3063240"/>
          </a:xfrm>
          <a:prstGeom prst="rect">
            <a:avLst/>
          </a:prstGeom>
          <a:solidFill>
            <a:srgbClr val="1C2530"/>
          </a:solidFill>
          <a:ln w="12700">
            <a:solidFill>
              <a:srgbClr val="D970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breaks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0604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CIFAKE images are natively 32×32 — the model partly learned resolution, not artefacts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full-resolution phone or web photos it skews heavily toward one class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unseen-generator split tested yet, so generalisation remains unproven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a preprocessing workaround, saw it merely flip the bias rather than fix it, and reverted it. A high in-distribution AUC is not evidence of real-world generalisation — and we would rather say so than ship a number we cannot defend.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build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01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 explanation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9019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heat-maps tied to specific artefact types, scored on correctness and localisation rather than fluency.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19019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design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515600" cy="0"/>
          </a:xfrm>
          <a:prstGeom prst="line">
            <a:avLst/>
          </a:prstGeom>
          <a:noFill/>
          <a:ln w="12700">
            <a:solidFill>
              <a:srgbClr val="E2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62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attribution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8620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binary to name the likely generator family — GAN vs diffusion.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2862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515600" cy="0"/>
          </a:xfrm>
          <a:prstGeom prst="line">
            <a:avLst/>
          </a:prstGeom>
          <a:noFill/>
          <a:ln w="12700">
            <a:solidFill>
              <a:srgbClr val="E2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822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to degradation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38221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 through JPEG compression, resizing, and screenshotting.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10515600" cy="0"/>
          </a:xfrm>
          <a:prstGeom prst="line">
            <a:avLst/>
          </a:prstGeom>
          <a:noFill/>
          <a:ln w="12700">
            <a:solidFill>
              <a:srgbClr val="E2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Higher-resolution training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4782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full-resolution synthetic data to close the domain gap identified above.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4782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87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next step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verdict you can act 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SignalScope delivers the core task — a trained classifier with a live interface and reported metrics — and is honest about the one thing that matters most: generalisation to images it has never seen is still an open problem, and we can show exactly where ours stops working.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7498080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754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demo video, and model report linked in the submission.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2103120"/>
            <a:ext cx="2651760" cy="2651760"/>
          </a:xfrm>
          <a:prstGeom prst="rect">
            <a:avLst/>
          </a:prstGeom>
          <a:solidFill>
            <a:srgbClr val="161D26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2788920"/>
            <a:ext cx="1280160" cy="1280160"/>
          </a:xfrm>
          <a:prstGeom prst="ellipse">
            <a:avLst/>
          </a:prstGeom>
          <a:solidFill>
            <a:srgbClr val="0A0E13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0" y="3200400"/>
            <a:ext cx="457200" cy="457200"/>
          </a:xfrm>
          <a:prstGeom prst="ellipse">
            <a:avLst/>
          </a:prstGeom>
          <a:solidFill>
            <a:srgbClr val="F2A93B">
              <a:alpha val="6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SignalScope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SignalScope — Telling Real From Synthetic</dc:title>
  <dc:subject>PptxGenJS Presentation</dc:subject>
  <dc:creator>SignalScope Team</dc:creator>
  <cp:lastModifiedBy>SignalScope Team</cp:lastModifiedBy>
  <cp:revision>1</cp:revision>
  <dcterms:created xsi:type="dcterms:W3CDTF">2026-09-15T12:12:03Z</dcterms:created>
  <dcterms:modified xsi:type="dcterms:W3CDTF">2026-09-15T12:12:03Z</dcterms:modified>
</cp:coreProperties>
</file>